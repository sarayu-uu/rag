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F346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Programming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2860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Concepts &amp; Practical Code Examples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introduction from fundamentals to practical 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Edition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Python?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166"/>
                </a:solidFill>
              </a:rPr>
              <a:t>Python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is a high-level, interpreted, and general-purpose programming language created by </a:t>
            </a:r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Guido van Rossum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and first released in </a:t>
            </a:r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1991.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651760" cy="1371600"/>
          </a:xfrm>
          <a:prstGeom prst="rect">
            <a:avLst/>
          </a:prstGeom>
          <a:solidFill>
            <a:srgbClr val="0F3460">
              <a:alpha val="8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syntax that reads almost like plain English. Minimal boilerplate.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1600200"/>
            <a:ext cx="2651760" cy="1371600"/>
          </a:xfrm>
          <a:prstGeom prst="rect">
            <a:avLst/>
          </a:prstGeom>
          <a:solidFill>
            <a:srgbClr val="0F3460">
              <a:alpha val="80000"/>
            </a:srgbClr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data science, AI/ML, scripting, automation, and more.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600200"/>
            <a:ext cx="2834640" cy="1371600"/>
          </a:xfrm>
          <a:prstGeom prst="rect">
            <a:avLst/>
          </a:prstGeom>
          <a:solidFill>
            <a:srgbClr val="0F3460">
              <a:alpha val="80000"/>
            </a:srgbClr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80760" y="20574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ecosystem with 500,000+ packages on PyPI.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1546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Philosophy: "Beautiful is better than ugly. Explicit is better than implicit. Simple is better than complex."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4320" y="3749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Popular Uses: </a:t>
            </a:r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</a:rPr>
              <a:t>Web Development (Django, Flask)  •  Data Science (Pandas, NumPy)  •  Machine Learning (TensorFlow, PyTorch)  •  Automation  •  APIs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dynamically typed — no need to declare variable types explicitly.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572000" cy="3474720"/>
          </a:xfrm>
          <a:prstGeom prst="rect">
            <a:avLst/>
          </a:prstGeom>
          <a:solidFill>
            <a:srgbClr val="0D1117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280160"/>
            <a:ext cx="4343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Variables &amp; data types
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str
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# int
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5.9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# float
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bool
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Collections
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"mango"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# list
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coords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# tuple
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# dict
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        # set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188720"/>
          <a:ext cx="3840480" cy="3474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Mutable?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"hello"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True/False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2, 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{"k": "v"}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{1, 2}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9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Flow: if / for / while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uses indentation (4 spaces) instead of curly braces to define code blocks.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420624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234440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/ elif / else
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 &gt;= 90: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 Grade"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 &gt;= 60: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 Grade"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"Needs Work"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20624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73168" y="1234440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loop + range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range(</a:t>
            </a:r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
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Iterating a list
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"mango"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fruit 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fruits: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print(fruit)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3291840"/>
            <a:ext cx="420624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3383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while loop
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 &lt; </a:t>
            </a:r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print(count)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+=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3291840"/>
            <a:ext cx="420624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73168" y="3383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comprehension
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 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</a:t>
            </a:r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
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[0,1,4,9,16,...81]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Lambda Expressions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are defined with def. Python supports default args, *args, **kwargs, and first-class functions.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530352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280160"/>
            <a:ext cx="5074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function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greet(name, greeting=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"""Return a personalised greeting."""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"{greeting}, {name}!"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print(greet(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         # Hello, Alice!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print(greet(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"Bob"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"Hi"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  # Hi, Bob!
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*args and **kwargs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total(*numbers):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(numbers)
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(anonymous function)
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x: x ** </a:t>
            </a:r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print(square(</a:t>
            </a:r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  # 25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760720" y="1188720"/>
            <a:ext cx="3108960" cy="1005840"/>
          </a:xfrm>
          <a:prstGeom prst="rect">
            <a:avLst/>
          </a:prstGeom>
          <a:solidFill>
            <a:srgbClr val="0F3460">
              <a:alpha val="8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978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keyword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97880" y="1645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 named, reusable code block. Supports docstrings for documentation.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2331720"/>
            <a:ext cx="3108960" cy="1005840"/>
          </a:xfrm>
          <a:prstGeom prst="rect">
            <a:avLst/>
          </a:prstGeom>
          <a:solidFill>
            <a:srgbClr val="0F3460">
              <a:alpha val="80000"/>
            </a:srgbClr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9788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Args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9788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can have default values used when no argument is passed.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3474720"/>
            <a:ext cx="3108960" cy="1371600"/>
          </a:xfrm>
          <a:prstGeom prst="rect">
            <a:avLst/>
          </a:prstGeom>
          <a:solidFill>
            <a:srgbClr val="0F3460">
              <a:alpha val="80000"/>
            </a:srgbClr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97880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97880" y="39319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anonymous functions. Commonly used with map(), filter(), and sorted().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(OOP)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fully supports OOP with classes, inheritance, encapsulation, and polymorphism.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530352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280160"/>
            <a:ext cx="5074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Animal: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__init__(self, name, sound):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 = name
        self.sound = sound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speak(self):
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{self.name}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says 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{self.sound}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!"
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Inheritance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Dog(Animal):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fetch(self):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"Fetching..."
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rex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Dog(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"Rex"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"Woof"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print(rex.speak())   # Rex says Woof!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760720" y="118872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Encapsulation: Bundle data &amp; methods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Reuse parent class code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Polymorphism: One interface, many forms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Abstraction: Hide implementation details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self: Reference to the instance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__init__: Constructor method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__str__: String representation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super(): Call parent class method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File I/O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2286000"/>
          </a:xfrm>
          <a:prstGeom prst="rect">
            <a:avLst/>
          </a:prstGeom>
          <a:solidFill>
            <a:srgbClr val="0D1117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005840"/>
            <a:ext cx="3977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Exception handling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ZeroDivisionError 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"Error: {e}"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Exception 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"Unexpected"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"Done"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206240" cy="2286000"/>
          </a:xfrm>
          <a:prstGeom prst="rect">
            <a:avLst/>
          </a:prstGeom>
          <a:solidFill>
            <a:srgbClr val="0D1117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1005840"/>
            <a:ext cx="3977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reading &amp; writing
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 to file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open(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"notes.txt"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f: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World\n"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from file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open(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"notes.txt"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f: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f.read()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print(content)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3337560"/>
            <a:ext cx="8595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3429000"/>
            <a:ext cx="8366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 &amp; packages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math                       # Standard library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datetime 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               # Specific import
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                  # Third-party (pip install numpy)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print(math.pi, date.today())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3.14159... 2025-01-15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Ecosystem: Popular Libraries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power comes from its vast library ecosystem. Over 500,000 packages are available on PyPI.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749808"/>
          </a:xfrm>
          <a:prstGeom prst="rect">
            <a:avLst/>
          </a:prstGeom>
          <a:solidFill>
            <a:srgbClr val="0F3460">
              <a:alpha val="7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435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computing, N-dimensional arrays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14800" cy="749808"/>
          </a:xfrm>
          <a:prstGeom prst="rect">
            <a:avLst/>
          </a:prstGeom>
          <a:solidFill>
            <a:srgbClr val="0F3460">
              <a:alpha val="70000"/>
            </a:srgbClr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64008" cy="7498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2435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19472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DataFrames, data wrangling &amp;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4114800" cy="749808"/>
          </a:xfrm>
          <a:prstGeom prst="rect">
            <a:avLst/>
          </a:prstGeom>
          <a:solidFill>
            <a:srgbClr val="0F3460">
              <a:alpha val="70000"/>
            </a:srgbClr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057400"/>
            <a:ext cx="64008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1122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" y="2441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&amp; plotting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057400"/>
            <a:ext cx="4114800" cy="749808"/>
          </a:xfrm>
          <a:prstGeom prst="rect">
            <a:avLst/>
          </a:prstGeom>
          <a:solidFill>
            <a:srgbClr val="0F3460">
              <a:alpha val="70000"/>
            </a:srgbClr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057400"/>
            <a:ext cx="64008" cy="7498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1122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19472" y="2441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algorithms &amp; tools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4114800" cy="749808"/>
          </a:xfrm>
          <a:prstGeom prst="rect">
            <a:avLst/>
          </a:prstGeom>
          <a:solidFill>
            <a:srgbClr val="0F3460">
              <a:alpha val="70000"/>
            </a:srgbClr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26080"/>
            <a:ext cx="64008" cy="7498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9809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TensorFlow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8912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neural networks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926080"/>
            <a:ext cx="4114800" cy="749808"/>
          </a:xfrm>
          <a:prstGeom prst="rect">
            <a:avLst/>
          </a:prstGeom>
          <a:solidFill>
            <a:srgbClr val="0F3460">
              <a:alpha val="70000"/>
            </a:srgbClr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926080"/>
            <a:ext cx="64008" cy="74980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9809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 / Django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19472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frameworks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794760"/>
            <a:ext cx="4114800" cy="749808"/>
          </a:xfrm>
          <a:prstGeom prst="rect">
            <a:avLst/>
          </a:prstGeom>
          <a:solidFill>
            <a:srgbClr val="0F3460">
              <a:alpha val="70000"/>
            </a:srgbClr>
          </a:solidFill>
          <a:ln w="12700">
            <a:solidFill>
              <a:srgbClr val="4CC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794760"/>
            <a:ext cx="64008" cy="749808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8496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8912" y="4178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 &amp; REST APIs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794760"/>
            <a:ext cx="4114800" cy="749808"/>
          </a:xfrm>
          <a:prstGeom prst="rect">
            <a:avLst/>
          </a:prstGeom>
          <a:solidFill>
            <a:srgbClr val="0F3460">
              <a:alpha val="70000"/>
            </a:srgbClr>
          </a:solidFill>
          <a:ln w="12700">
            <a:solidFill>
              <a:srgbClr val="F896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794760"/>
            <a:ext cx="64008" cy="749808"/>
          </a:xfrm>
          <a:prstGeom prst="rect">
            <a:avLst/>
          </a:prstGeom>
          <a:solidFill>
            <a:srgbClr val="F8961E"/>
          </a:solidFill>
          <a:ln w="12700">
            <a:solidFill>
              <a:srgbClr val="F8961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8496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9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SQLAlchemy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19472" y="4178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ORM &amp; SQL toolkit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Programming: Syntax &amp; Fundamentals</dc:title>
  <dc:subject>PptxGenJS Presentation</dc:subject>
  <dc:creator>PptxGenJS</dc:creator>
  <cp:lastModifiedBy>PptxGenJS</cp:lastModifiedBy>
  <cp:revision>1</cp:revision>
  <dcterms:created xsi:type="dcterms:W3CDTF">2026-05-07T05:25:11Z</dcterms:created>
  <dcterms:modified xsi:type="dcterms:W3CDTF">2026-05-07T05:25:11Z</dcterms:modified>
</cp:coreProperties>
</file>